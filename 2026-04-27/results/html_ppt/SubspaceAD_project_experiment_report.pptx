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4754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900" b="1">
                <a:solidFill>
                  <a:srgbClr val="1D4ED8"/>
                </a:solidFill>
                <a:latin typeface="Arial"/>
              </a:defRPr>
            </a:pPr>
            <a:r>
              <a:rPr sz="900" b="1">
                <a:solidFill>
                  <a:srgbClr val="1D4ED8"/>
                </a:solidFill>
                <a:latin typeface="Arial"/>
              </a:rPr>
              <a:t>PAPER REPORT · 2026-04-27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87552"/>
            <a:ext cx="608076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3000" b="1">
                <a:solidFill>
                  <a:srgbClr val="08233E"/>
                </a:solidFill>
                <a:latin typeface="Arial"/>
              </a:defRPr>
            </a:pPr>
            <a:r>
              <a:rPr sz="3000" b="1">
                <a:solidFill>
                  <a:srgbClr val="08233E"/>
                </a:solidFill>
                <a:latin typeface="Arial"/>
              </a:rPr>
              <a:t>SubspaceAD：</a:t>
            </a:r>
            <a:br/>
            <a:r>
              <a:rPr sz="3000" b="1">
                <a:solidFill>
                  <a:srgbClr val="08233E"/>
                </a:solidFill>
                <a:latin typeface="Arial"/>
              </a:rPr>
              <a:t>正常子空间建模与特征投影实验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2907792"/>
            <a:ext cx="539496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rial"/>
              </a:defRPr>
            </a:pPr>
            <a:r>
              <a:rPr sz="1500" b="0">
                <a:solidFill>
                  <a:srgbClr val="475569"/>
                </a:solidFill>
                <a:latin typeface="Arial"/>
              </a:rPr>
              <a:t>Training-Free Few-Shot Anomaly Detection via Subspace Modeling</a:t>
            </a:r>
            <a:br/>
            <a:r>
              <a:rPr sz="1500" b="0">
                <a:solidFill>
                  <a:srgbClr val="475569"/>
                </a:solidFill>
                <a:latin typeface="Arial"/>
              </a:rPr>
              <a:t>目标：说清方法，明确可验证实验，判断它是否适合电池划痕少样本检测。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512064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366882"/>
            <a:ext cx="4800600" cy="139932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DINOv2 patch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PCA normal subspace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4315968"/>
            <a:ext cx="1691640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4480559"/>
            <a:ext cx="136245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937759"/>
            <a:ext cx="136245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Residual anomaly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87568"/>
            <a:ext cx="10789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核心问题：强基础模型特征足够好时，异常检测是否还需要复杂训练和大型 memory bank？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 / 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73152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论文要解决什么问题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46304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3145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工业异常检测的痛点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67712"/>
            <a:ext cx="314553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正常样本相对容易拿到；缺陷样本稀少、类型长尾，且细微划痕、污染、错位等很难靠文本提示完整描述。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4747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10512"/>
            <a:ext cx="3145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现有少样本方法的复杂度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67712"/>
            <a:ext cx="314553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PatchCore / SPADE 依赖 memory bank；WinCLIP / PromptAD / IIPAD 依赖文本提示或调优；多阶段流程增加部署和维护成本。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45920"/>
            <a:ext cx="33832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1051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SubspaceAD 的回答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67712"/>
            <a:ext cx="3054096" cy="7772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如果 DINOv2 的 dense patch feature 足够强，用 PCA 描述正常变化，再用重构残差即可形成异常分数。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67328"/>
            <a:ext cx="1088136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05072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报告视角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005072"/>
            <a:ext cx="90525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这不是单纯复述 SOTA，而是把它拆成可落地模块：特征抽取、子空间拟合、残差评分、图像级聚合、阈值校准。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21808"/>
            <a:ext cx="10424160" cy="7315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项目对应：新型号电池缺陷标签少，先验证特征空间中的投影距离是否比图像空间更稳定。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实验优先级：先做能解释失败原因的 baseline，再决定是否上 UDA 或更复杂模型。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02 ·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方法定位：从 memory bank 到统计子空间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219456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00200"/>
          <a:ext cx="1078991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481"/>
                <a:gridCol w="2942705"/>
                <a:gridCol w="3293027"/>
                <a:gridCol w="2942705"/>
              </a:tblGrid>
              <a:tr h="537210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路线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代表方法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核心机制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部署风险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53721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Memory bank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SPADE / PatchCore / AnomalyDINO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保存正常 patch 特征，最近邻匹配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存储与检索开销随样本增长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VLM prompt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WinCLIP / PromptAD / IIPAD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用文本或实例提示对齐异常语义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依赖 prompt、辅助数据或调优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SubspaceAD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DINOv2 + PCA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拟合正常低维子空间，残差即异常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主要瓶颈转为 backbone 特征质量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251960"/>
            <a:ext cx="10789920" cy="1234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498848"/>
            <a:ext cx="1097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方法主张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498848"/>
            <a:ext cx="87325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把“正常性”建模从样本检索改成分布级 PCA：模型只保留均值 μ 与主方向 C，异常是无法被 C 充分重构的 patch。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03 ·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整体流程：两个阶段，一个残差图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292608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6537960" cy="2926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chnica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64233"/>
            <a:ext cx="6172200" cy="216027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481328"/>
            <a:ext cx="3886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1645920"/>
            <a:ext cx="355701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Fitting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103120"/>
            <a:ext cx="3557016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k 张正常图 + 旋转增强 → DINOv2-G 中间层 patch feature → PCA 拟合正常子空间。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834640"/>
            <a:ext cx="38862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2999232"/>
            <a:ext cx="355701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456432"/>
            <a:ext cx="3557016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测试图走同一个 feature extractor，投影到正常子空间；每个 patch 的重构误差形成 anomaly map。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92040"/>
            <a:ext cx="10744200" cy="6858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47488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一句话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200"/>
            <a:ext cx="8961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</a:rPr>
              <a:t>SubspaceAD 不学习“异常长什么样”，而是学习“正常变化能张成什么空间”。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04 ·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特征抽取：为什么用 DINOv2 中间层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36576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72768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3145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3145536" cy="5943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冻结 DINOv2-G/14，输入分辨率实验最终采用 672 px。PCA 本身很轻，主要计算来自 backbone forward。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72768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737360"/>
            <a:ext cx="3145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Layer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194560"/>
            <a:ext cx="3145536" cy="5943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不是只用最后一层，而是 mean-pool 第 22-28 层。中间层保留局部结构与语义，适合 patch-level 缺陷。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572768"/>
            <a:ext cx="333756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00837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08376" cy="5943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每张正常图生成 Na = 30 个旋转视图，构建更稳定的正常协方差估计。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3429000"/>
          <a:ext cx="101498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7894"/>
                <a:gridCol w="1877025"/>
                <a:gridCol w="1598947"/>
                <a:gridCol w="1877025"/>
                <a:gridCol w="1598947"/>
              </a:tblGrid>
              <a:tr h="329184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Aggregation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MVTec I-AUROC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MVTec PRO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VisA I-AUROC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VisA PRO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Mean-pool Middle-7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97.9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94.3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94.7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93.8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Mean-pool Final-7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98.2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92.3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91.9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90.3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Concat Middle-7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98.6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94.2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93.8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93.1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Last layer only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91.4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89.1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88.3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914400" y="5486400"/>
            <a:ext cx="101498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解释：最后层偏类别语义，容易损失细节；中间层能更好保留划痕、边界、局部纹理这类工业缺陷信号。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05 · PCA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PCA 正常子空间：模型参数很少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438912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35204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600" b="1">
                <a:solidFill>
                  <a:srgbClr val="08233E"/>
                </a:solidFill>
                <a:latin typeface="Arial"/>
              </a:defRPr>
            </a:pPr>
            <a:r>
              <a:rPr sz="1600" b="1">
                <a:solidFill>
                  <a:srgbClr val="08233E"/>
                </a:solidFill>
                <a:latin typeface="Arial"/>
              </a:rPr>
              <a:t>Normal feature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29768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x = μ + C z + ε</a:t>
            </a:r>
            <a:br/>
            <a:r>
              <a:rPr sz="2400" b="1">
                <a:solidFill>
                  <a:srgbClr val="111827"/>
                </a:solidFill>
                <a:latin typeface="Arial"/>
              </a:rPr>
              <a:t>z ~ N(0, I_r)</a:t>
            </a:r>
            <a:br/>
            <a:r>
              <a:rPr sz="2400" b="1">
                <a:solidFill>
                  <a:srgbClr val="111827"/>
                </a:solidFill>
                <a:latin typeface="Arial"/>
              </a:rPr>
              <a:t>ε ~ N(0, σ² 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67328"/>
            <a:ext cx="43434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rPr sz="1400" b="0">
                <a:solidFill>
                  <a:srgbClr val="475569"/>
                </a:solidFill>
                <a:latin typeface="Arial"/>
              </a:rPr>
              <a:t>C ∈ R^(D×r) 是前 r 个主方向，r 由解释方差阈值 τ 决定。论文默认 τ = 0.99。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72768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37360"/>
            <a:ext cx="2002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保存什么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94560"/>
            <a:ext cx="2002536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每个类别只需要 μ 和 C；论文估计通常小于 1 MB。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72768"/>
            <a:ext cx="23317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7152" y="1737360"/>
            <a:ext cx="20025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为什么可解释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17152" y="2194560"/>
            <a:ext cx="2002536" cy="4114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异常不是一个黑盒分类结果，而是特征在正常主子空间之外的能量。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35808"/>
            <a:ext cx="49834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200400"/>
            <a:ext cx="46542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为什么适合作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657600"/>
            <a:ext cx="465429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正常样本少时依然能快速拟合，且可以按类别、产线、型号独立管理。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754880"/>
            <a:ext cx="49834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956048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项目含义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919472"/>
            <a:ext cx="361188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0">
                <a:solidFill>
                  <a:srgbClr val="111827"/>
                </a:solidFill>
                <a:latin typeface="Arial"/>
              </a:defRPr>
            </a:pPr>
            <a:r>
              <a:rPr sz="1300" b="0">
                <a:solidFill>
                  <a:srgbClr val="111827"/>
                </a:solidFill>
                <a:latin typeface="Arial"/>
              </a:rPr>
              <a:t>先定义“新型号正常外观的可接受变化”，再把偏离该空间的 patch 作为疑似缺陷。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06 ·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推理评分：投影残差、TVaR 与像素定位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7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512064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892040" cy="39776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chnical_pca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851" y="1664208"/>
            <a:ext cx="194536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989320" y="1536192"/>
            <a:ext cx="5303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3912" y="1700784"/>
            <a:ext cx="49743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Patch-level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2157984"/>
            <a:ext cx="4974336" cy="320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x_proj = μ + C C^T (x_p - μ)</a:t>
            </a:r>
            <a:br/>
            <a:r>
              <a:rPr sz="1200" b="0">
                <a:solidFill>
                  <a:srgbClr val="475569"/>
                </a:solidFill>
                <a:latin typeface="Arial"/>
              </a:rPr>
              <a:t>S(x_p) = ||x_p - x_proj||²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816352"/>
            <a:ext cx="5303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2980944"/>
            <a:ext cx="49743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Image-level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3438144"/>
            <a:ext cx="4974336" cy="320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用 top ρ% patch 分数的均值作为图像级分数；论文 ρ = 1%，对稀疏划痕更敏感。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4096512"/>
            <a:ext cx="53035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4261104"/>
            <a:ext cx="497433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Pixel-level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4718304"/>
            <a:ext cx="4974336" cy="320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patch anomaly map 双线性上采样到原图分辨率，再用 σ = 4 的 Gaussian filter 平滑。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07 ·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实验设置：少样本检测与定位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585216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19072"/>
            <a:ext cx="309981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176272"/>
            <a:ext cx="309981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MVTec-AD：15 类工业对象；VisA：高分辨率、更复杂背景和异常类型。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554480"/>
            <a:ext cx="3429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19072"/>
            <a:ext cx="309981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Shots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76272"/>
            <a:ext cx="309981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1-shot / 2-shot / 4-shot；每个设置 5 个随机种子，报告均值和标准差。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33756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19072"/>
            <a:ext cx="300837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176272"/>
            <a:ext cx="300837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图像级 AUROC / AUPR；像素级 AUROC / PRO。原始分数用于评估，归一化图用于可视化。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10789920" cy="16002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对比对象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84448"/>
            <a:ext cx="8503920" cy="8229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Memory bank / retrieval：SPADE、PatchCore、AnomalyDINO</a:t>
            </a:r>
          </a:p>
          <a:p>
            <a:pPr>
              <a:spcAft>
                <a:spcPts val="5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Reconstruction：FastRecon</a:t>
            </a:r>
          </a:p>
          <a:p>
            <a:pPr>
              <a:spcAft>
                <a:spcPts val="500"/>
              </a:spcAft>
              <a:defRPr sz="1300">
                <a:solidFill>
                  <a:srgbClr val="111827"/>
                </a:solidFill>
                <a:latin typeface="Arial"/>
              </a:defRPr>
            </a:pPr>
            <a:r>
              <a:t>Vision-language：WinCLIP、PromptAD、IIPAD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59552"/>
            <a:ext cx="10241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汇报口径：强调方法极简但效果强，同时保留“不是每个单项都绝对第一”的谨慎表述。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08 · MAIN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主结果：简单投影能达到强基线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658368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70332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08233E"/>
                </a:solidFill>
                <a:latin typeface="Arial"/>
              </a:defRPr>
            </a:pPr>
            <a:r>
              <a:rPr sz="2200" b="1">
                <a:solidFill>
                  <a:srgbClr val="08233E"/>
                </a:solidFill>
                <a:latin typeface="Arial"/>
              </a:rPr>
              <a:t>97.1%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7556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MVTec-AD 1-shot image AUROC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08233E"/>
                </a:solidFill>
                <a:latin typeface="Arial"/>
              </a:defRPr>
            </a:pPr>
            <a:r>
              <a:rPr sz="2200" b="1">
                <a:solidFill>
                  <a:srgbClr val="08233E"/>
                </a:solidFill>
                <a:latin typeface="Arial"/>
              </a:rPr>
              <a:t>97.5%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700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MVTec-AD 1-shot pixel AUROC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08233E"/>
                </a:solidFill>
                <a:latin typeface="Arial"/>
              </a:defRPr>
            </a:pPr>
            <a:r>
              <a:rPr sz="2200" b="1">
                <a:solidFill>
                  <a:srgbClr val="08233E"/>
                </a:solidFill>
                <a:latin typeface="Arial"/>
              </a:rPr>
              <a:t>93.4%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844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VisA 1-shot image AUROC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200" b="1">
                <a:solidFill>
                  <a:srgbClr val="08233E"/>
                </a:solidFill>
                <a:latin typeface="Arial"/>
              </a:defRPr>
            </a:pPr>
            <a:r>
              <a:rPr sz="2200" b="1">
                <a:solidFill>
                  <a:srgbClr val="08233E"/>
                </a:solidFill>
                <a:latin typeface="Arial"/>
              </a:rPr>
              <a:t>98.2%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98848"/>
            <a:ext cx="187451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VisA 1-shot pixel AUROC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417320"/>
            <a:ext cx="690372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able_1_mai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534" y="1572768"/>
            <a:ext cx="5466651" cy="39776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5879592"/>
            <a:ext cx="104241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00" b="1">
                <a:solidFill>
                  <a:srgbClr val="08233E"/>
                </a:solidFill>
                <a:latin typeface="Arial"/>
              </a:defRPr>
            </a:pPr>
            <a:r>
              <a:rPr sz="1300" b="1">
                <a:solidFill>
                  <a:srgbClr val="08233E"/>
                </a:solidFill>
                <a:latin typeface="Arial"/>
              </a:rPr>
              <a:t>结论：SubspaceAD 在多数少样本指标上领先或持平；VisA 1-shot 图像级 AUROC 相比 AnomalyDINO 提升约 6 个百分点。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09 · LOCALIZATION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定性定位：残差图不是只做图像级分数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73152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44752"/>
            <a:ext cx="1088136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3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803" y="1645920"/>
            <a:ext cx="7883912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5349240"/>
            <a:ext cx="33832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5513831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观察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5971031"/>
            <a:ext cx="3054096" cy="-4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在 candle / capsules / cashew 等 VisA 示例中，背景误激活更少，缺陷区域更集中。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5349240"/>
            <a:ext cx="33832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513831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观察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971031"/>
            <a:ext cx="3054096" cy="-4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在 bottle / hazelnut / screw 等 MVTec 示例中，残差热图与 GT 缺陷区域对齐更好。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349240"/>
            <a:ext cx="33375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5513831"/>
            <a:ext cx="300837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可验证点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5971031"/>
            <a:ext cx="3008376" cy="-457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如果热图稳定，后续可接 ROI 级复检、缺陷面积统计和人工复核优先级排序。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10 · ABLATIONS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消融：什么因素真正决定效果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804672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3756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ure_4_re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43" y="1572768"/>
            <a:ext cx="2728608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88620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分辨率：VisA 从 256 到 448/672 明显改善；MVTec 在 448 以上较稳。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igure_5_back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725" y="1572768"/>
            <a:ext cx="2483788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90288" y="3886200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backbone：DINOv2-G 整体优于 S/B/L，小模型可做部署折中。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1312" y="1417320"/>
            <a:ext cx="3154680" cy="2834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able_4_pca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35" y="1572768"/>
            <a:ext cx="2505576" cy="2331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7616" y="3886200"/>
            <a:ext cx="27889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050" b="0">
                <a:solidFill>
                  <a:srgbClr val="475569"/>
                </a:solidFill>
                <a:latin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</a:rPr>
              <a:t>PCA 阈值：τ = 1.00 会把异常也重构掉，残差判别显著变弱。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56048"/>
            <a:ext cx="10698480" cy="82296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143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关键理解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120640"/>
            <a:ext cx="87782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</a:rPr>
              <a:t>性能不是来自 PCA 本身，而来自“强特征 + 合适残差空间”。子空间必须压缩正常主变化，同时保留暴露异常的正交方向。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11 · EFFICIENCY &amp;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复杂度与边界：适合做一阶段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877824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83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1D4ED8"/>
                </a:solidFill>
                <a:latin typeface="Arial"/>
              </a:defRPr>
            </a:pPr>
            <a:r>
              <a:rPr sz="1400" b="1">
                <a:solidFill>
                  <a:srgbClr val="1D4ED8"/>
                </a:solidFill>
                <a:latin typeface="Arial"/>
              </a:rPr>
              <a:t>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3054096" cy="548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每类模型只保存 μ 与 C，通常 &lt; 1 MB；相比 patch memory bank 更易版本管理。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8328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05409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Arial"/>
              </a:defRPr>
            </a:pPr>
            <a:r>
              <a:rPr sz="1400" b="1">
                <a:solidFill>
                  <a:srgbClr val="0F766E"/>
                </a:solidFill>
                <a:latin typeface="Arial"/>
              </a:rPr>
              <a:t>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054096" cy="548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672×672 图像约 300 ms / img；其中 DINOv2-G forward 约 226 ms，投影和评分约 74 ms。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600200"/>
            <a:ext cx="333756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764792"/>
            <a:ext cx="3008376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D97706"/>
                </a:solidFill>
                <a:latin typeface="Arial"/>
              </a:defRPr>
            </a:pPr>
            <a:r>
              <a:rPr sz="1400" b="1">
                <a:solidFill>
                  <a:srgbClr val="D97706"/>
                </a:solidFill>
                <a:latin typeface="Arial"/>
              </a:rPr>
              <a:t>Scoring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221992"/>
            <a:ext cx="3008376" cy="5486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</a:rPr>
              <a:t>H100 上 SubspaceAD scoring 约 74.1 ms / img，且对 1-4 shot 基本不随 K 增长。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10789920" cy="16916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7"/>
            <a:ext cx="14173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B91C1C"/>
                </a:solidFill>
                <a:latin typeface="Arial"/>
              </a:defRPr>
            </a:pPr>
            <a:r>
              <a:rPr sz="1400" b="1">
                <a:solidFill>
                  <a:srgbClr val="B91C1C"/>
                </a:solidFill>
                <a:latin typeface="Arial"/>
              </a:rPr>
              <a:t>论文暴露的限制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611880"/>
            <a:ext cx="8503920" cy="9601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11827"/>
                </a:solidFill>
                <a:latin typeface="Arial"/>
              </a:defRPr>
            </a:pPr>
            <a:r>
              <a:t>逻辑 / 结构异常较难：例如 Transistor 的 missing / misplaced component，patch 外观方法不显式建模结构关系。</a:t>
            </a:r>
          </a:p>
          <a:p>
            <a:pPr>
              <a:spcAft>
                <a:spcPts val="500"/>
              </a:spcAft>
              <a:defRPr sz="1220">
                <a:solidFill>
                  <a:srgbClr val="111827"/>
                </a:solidFill>
                <a:latin typeface="Arial"/>
              </a:defRPr>
            </a:pPr>
            <a:r>
              <a:t>正常样本类内变化大或背景伪影多时，少量样本很难形成紧致正常子空间。</a:t>
            </a:r>
          </a:p>
          <a:p>
            <a:pPr>
              <a:spcAft>
                <a:spcPts val="500"/>
              </a:spcAft>
              <a:defRPr sz="1220">
                <a:solidFill>
                  <a:srgbClr val="111827"/>
                </a:solidFill>
                <a:latin typeface="Arial"/>
              </a:defRPr>
            </a:pPr>
            <a:r>
              <a:t>旋转增强不是无脑使用；如果方向本身定义正常状态，旋转会把方向异常学成正常变化。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32120"/>
            <a:ext cx="10241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1">
                <a:solidFill>
                  <a:srgbClr val="08233E"/>
                </a:solidFill>
                <a:latin typeface="Arial"/>
              </a:defRPr>
            </a:pPr>
            <a:r>
              <a:rPr sz="1350" b="1">
                <a:solidFill>
                  <a:srgbClr val="08233E"/>
                </a:solidFill>
                <a:latin typeface="Arial"/>
              </a:rPr>
              <a:t>落地判断：先用于局部外观类缺陷 baseline；涉及装配关系、方向、缺件时，需要加入几何/结构先验。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12 · MAPPING TO OUR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映射到电池划痕任务：正常子空间 vs 共享缺陷子空间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950976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7899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061"/>
                <a:gridCol w="3678381"/>
                <a:gridCol w="5231476"/>
              </a:tblGrid>
              <a:tr h="475488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维度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SubspaceAD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电池划痕任务可用改造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475488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训练数据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 张新类别正常图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新型号少量正常图 + 旧型号划痕标注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子空间含义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正常外观主变化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正常子空间 + 共享划痕原型子空间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异常分数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到正常子空间的残差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残差、到划痕原型距离、轻量分类器联合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泛化挑战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类内变化与背景干扰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型号域差异、材质纹理、光照与工位变化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343400"/>
            <a:ext cx="10789920" cy="114300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下一步判断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526280"/>
            <a:ext cx="886968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</a:rPr>
              <a:t>不要一开始就押注复杂 UDA；先并行做两个 baseline：正常 PCA 残差与旧型号划痕原型投影。二者能回答“新型号无标签时，哪种投影信号更稳定”。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13 · EXPERIMENT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实际验证流程：从图像到误差分析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024128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647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17282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17830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新型号：少量正常图 + 未标注混合图；旧型号：保留划痕标注样本。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7647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17282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17830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585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DINOv2/ViT 提取 patch 或 ROI 特征，保存图像坐标映射，便于回看热图。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7647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02167" y="17282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8" y="17830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建模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2585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分别拟合正常 PCA、旧型号划痕原型、共享缺陷子空间。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290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5935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" y="35570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4168" y="36118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0873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输出 residual score、prototype distance、top-ρ patch score。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290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5935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8848" y="35570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36118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0873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用人工复核或少量标签计算 top-k precision、recall、误报来源。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429000"/>
            <a:ext cx="3246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3593592"/>
            <a:ext cx="384048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02167" y="3557016"/>
            <a:ext cx="411480" cy="329184"/>
          </a:xfrm>
          <a:prstGeom prst="round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0808" y="361188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500" b="1">
                <a:solidFill>
                  <a:srgbClr val="08233E"/>
                </a:solidFill>
                <a:latin typeface="Arial"/>
              </a:defRPr>
            </a:pPr>
            <a:r>
              <a:rPr sz="1500" b="1">
                <a:solidFill>
                  <a:srgbClr val="08233E"/>
                </a:solidFill>
                <a:latin typeface="Arial"/>
              </a:rPr>
              <a:t>复盘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4087368"/>
            <a:ext cx="278892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120" b="0">
                <a:solidFill>
                  <a:srgbClr val="475569"/>
                </a:solidFill>
                <a:latin typeface="Arial"/>
              </a:defRPr>
            </a:pPr>
            <a:r>
              <a:rPr sz="1120" b="0">
                <a:solidFill>
                  <a:srgbClr val="475569"/>
                </a:solidFill>
                <a:latin typeface="Arial"/>
              </a:rPr>
              <a:t>按失败类型决定：调特征层、调阈值、加 ROI、还是引入域对齐。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1">
                <a:solidFill>
                  <a:srgbClr val="08233E"/>
                </a:solidFill>
                <a:latin typeface="Arial"/>
              </a:defRPr>
            </a:pPr>
            <a:r>
              <a:rPr sz="1350" b="1">
                <a:solidFill>
                  <a:srgbClr val="08233E"/>
                </a:solidFill>
                <a:latin typeface="Arial"/>
              </a:rPr>
              <a:t>原则：先离线验证，不急着承诺上线效果；每个失败样本都要能归因到特征、子空间、阈值或数据覆盖问题。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3840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800" b="1">
                <a:solidFill>
                  <a:srgbClr val="1D4ED8"/>
                </a:solidFill>
                <a:latin typeface="Arial"/>
              </a:defRPr>
            </a:pPr>
            <a:r>
              <a:rPr sz="800" b="1">
                <a:solidFill>
                  <a:srgbClr val="1D4ED8"/>
                </a:solidFill>
                <a:latin typeface="Arial"/>
              </a:rPr>
              <a:t>14 · EXPERIMENT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0607040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2700" b="1">
                <a:solidFill>
                  <a:srgbClr val="08233E"/>
                </a:solidFill>
                <a:latin typeface="Arial"/>
              </a:defRPr>
            </a:pPr>
            <a:r>
              <a:rPr sz="2700" b="1">
                <a:solidFill>
                  <a:srgbClr val="08233E"/>
                </a:solidFill>
                <a:latin typeface="Arial"/>
              </a:rPr>
              <a:t>实验想法与需要回答的问题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37376"/>
            <a:ext cx="6400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0">
                <a:solidFill>
                  <a:srgbClr val="475569"/>
                </a:solidFill>
                <a:latin typeface="Arial"/>
              </a:defRPr>
            </a:pPr>
            <a:r>
              <a:rPr sz="800" b="0">
                <a:solidFill>
                  <a:srgbClr val="475569"/>
                </a:solidFill>
                <a:latin typeface="Arial"/>
              </a:rPr>
              <a:t>15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0972800" cy="27432"/>
          </a:xfrm>
          <a:prstGeom prst="rect">
            <a:avLst/>
          </a:prstGeom>
          <a:solidFill>
            <a:srgbClr val="08233E"/>
          </a:solidFill>
          <a:ln>
            <a:solidFill>
              <a:srgbClr val="08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92707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921"/>
                <a:gridCol w="2838202"/>
                <a:gridCol w="3122022"/>
                <a:gridCol w="3263932"/>
              </a:tblGrid>
              <a:tr h="487680"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实验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要验证什么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做法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看什么结果</a:t>
                      </a:r>
                    </a:p>
                  </a:txBody>
                  <a:tcPr marL="27432" marR="27432" marT="18288" marB="18288">
                    <a:solidFill>
                      <a:srgbClr val="08233E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E1 正常 PCA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新型号少量正常图是否足够定义正常空间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k = 1/2/4/8；比较 τ = 0.95/0.99/1.00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热图是否覆盖划痕；误报是否来自背景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E2 缺陷原型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旧型号划痕特征能否迁移到新型号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旧型号标注 patch 建原型/子空间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新型号 top-k 疑似样本命中率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E3 特征选择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层、backbone、分辨率哪个最影响结果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DINOv2-S/B/L/G；middle/final layer；448/672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精度、速度、显存折中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E4 阈值策略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图像级分数如何稳定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top-ρ TVaR；ρ = 0.5/1/2/5%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召回优先下的误报数量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E5 失败归因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失败主要来自特征还是数据域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UMAP/PCA 点云 + 误报 patch 回看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800" b="0">
                          <a:solidFill>
                            <a:srgbClr val="111827"/>
                          </a:solidFill>
                          <a:latin typeface="Arial"/>
                        </a:defRPr>
                      </a:pPr>
                      <a:r>
                        <a:t>是否需要 ROI、域对齐或结构先验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4800600"/>
            <a:ext cx="10835640" cy="100584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400" b="1">
                <a:solidFill>
                  <a:srgbClr val="08233E"/>
                </a:solidFill>
                <a:latin typeface="Arial"/>
              </a:defRPr>
            </a:pPr>
            <a:r>
              <a:rPr sz="1400" b="1">
                <a:solidFill>
                  <a:srgbClr val="08233E"/>
                </a:solidFill>
                <a:latin typeface="Arial"/>
              </a:rPr>
              <a:t>需要先回答的问题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4965192"/>
            <a:ext cx="8138160" cy="5120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</a:rPr>
              <a:t>正常子空间残差能不能单独解决？旧型号划痕是否真的可迁移？需要多少正常图才稳定？先做 ROI 还是整图？阈值按召回还是按复核量定？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