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00" b="1">
                <a:solidFill>
                  <a:srgbClr val="0F172A"/>
                </a:solidFill>
                <a:latin typeface="PingFang SC"/>
              </a:rPr>
              <a:t>SubspaceAD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934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40AF"/>
                </a:solidFill>
                <a:latin typeface="PingFang SC"/>
              </a:rPr>
              <a:t>方法解析与业务落地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PingFang SC"/>
              </a:rPr>
              <a:t>Training-Free Few-Shot Anomaly Detection via Subspace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407408"/>
            <a:ext cx="521208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4407408"/>
            <a:ext cx="54864" cy="107899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17136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任务定位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4901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PingFang SC"/>
              </a:rPr>
              <a:t>从论文中提炼可验证 baseline 与实验问题，判断它能否服务新电池零样本缺陷检测中的特征子空间投影任务。</a:t>
            </a:r>
          </a:p>
        </p:txBody>
      </p:sp>
      <p:pic>
        <p:nvPicPr>
          <p:cNvPr id="9" name="Picture 8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882493"/>
            <a:ext cx="5394960" cy="1572573"/>
          </a:xfrm>
          <a:prstGeom prst="rect">
            <a:avLst/>
          </a:prstGeom>
        </p:spPr>
      </p:pic>
      <p:pic>
        <p:nvPicPr>
          <p:cNvPr id="10" name="Picture 9" descr="technical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938653"/>
            <a:ext cx="5440680" cy="1904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业务背景：为什么不能直接复用旧缺陷模型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新型号上线时缺陷样本没有标签，domain shift 会破坏直接复用</a:t>
            </a:r>
          </a:p>
        </p:txBody>
      </p:sp>
      <p:pic>
        <p:nvPicPr>
          <p:cNvPr id="5" name="Picture 4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7" y="1389888"/>
            <a:ext cx="5323701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417320"/>
            <a:ext cx="4983480" cy="9144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54864" cy="9144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5270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可用资源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856232"/>
            <a:ext cx="4672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旧型号：有划痕样本与标签；新型号：只有产线采集图像。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587752"/>
            <a:ext cx="4983480" cy="9144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587752"/>
            <a:ext cx="54864" cy="91440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697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困难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026664"/>
            <a:ext cx="4672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缺陷物理本质相似，但材质、光照、反光率、背景和纹理改变了成像域。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58184"/>
            <a:ext cx="4983480" cy="9144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758184"/>
            <a:ext cx="54864" cy="91440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8679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197096"/>
            <a:ext cx="4672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先验证预训练特征中是否存在可投影、可迁移的缺陷/正常子空间结构。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9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传统微调：重新采集 -&gt; 标注 -&gt; 训练，周期长。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子空间路线：先把判别问题搬到特征空间，再看投影后的距离/残差。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论文定位：少样本正常图像能否替代复杂训练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不训练网络、不做 prompt tuning、不维护 memory 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107899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184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输入设定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2935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每类只给 k = 1, 2, 4 张正常训练图像；测试图像可能正常或异常。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508760"/>
            <a:ext cx="324612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508760"/>
            <a:ext cx="54864" cy="1078992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6184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核心假设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47672"/>
            <a:ext cx="2935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DINOv2 patch-level 表征足够强，异常判断可由简单统计模型完成。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508760"/>
            <a:ext cx="324612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1508760"/>
            <a:ext cx="54864" cy="107899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6184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947672"/>
            <a:ext cx="2935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图像级异常分数 + 像素级异常定位热图。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127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PingFang SC"/>
              </a:rPr>
              <a:t>一句话方法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9300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ingFang SC"/>
              </a:rPr>
              <a:t>用正常 patch 特征拟合 PCA 子空间；测试 patch 到该子空间的重构残差就是异常分数。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800600"/>
            <a:ext cx="245973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80060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1032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395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Frozen DINOv2
patch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508406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5576" y="4800600"/>
            <a:ext cx="245973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65576" y="480060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491032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52395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PCA normal
subspace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8406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4800600"/>
            <a:ext cx="245973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480060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491032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52395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Projection
residual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7928" y="508406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14232" y="4800600"/>
            <a:ext cx="245973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14232" y="480060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78824" y="491032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52395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Anomaly map
+ image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方法总览：两阶段闭环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训练阶段只拟合 PCA；推理阶段只做投影和残差计算</a:t>
            </a:r>
          </a:p>
        </p:txBody>
      </p:sp>
      <p:pic>
        <p:nvPicPr>
          <p:cNvPr id="5" name="Picture 4" descr="technic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335" y="1353312"/>
            <a:ext cx="7837714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4370832"/>
            <a:ext cx="3246120" cy="1024128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370832"/>
            <a:ext cx="54864" cy="102412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4480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4809744"/>
            <a:ext cx="2935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正常图像 -&gt; DINOv2 patch features -&gt; PCA 子空间参数 mu, C。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370832"/>
            <a:ext cx="3246120" cy="1024128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4370832"/>
            <a:ext cx="54864" cy="102412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4480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4809744"/>
            <a:ext cx="2935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测试图像 -&gt; 同一 backbone -&gt; 投影到正常子空间。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370832"/>
            <a:ext cx="3246120" cy="1024128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370832"/>
            <a:ext cx="54864" cy="102412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4480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4809744"/>
            <a:ext cx="2935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残差图用于定位；top 1% patch 分数用于图像级检测。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特征抽取细节：为什么用中间层和增强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这部分决定 PCA 协方差估计是否稳定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0515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10515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Backbone /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31181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DINOv2-G, ViT-G/14；输入统一为 672 x 672。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3429000" cy="10515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4864" cy="105156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072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Layer 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36392"/>
            <a:ext cx="31181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聚合第 22-28 层中间特征，兼顾局部结构与语义信息。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429000" cy="10515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77639"/>
            <a:ext cx="54864" cy="105156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8736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Augmentation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16551"/>
            <a:ext cx="31181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每张正常图生成 Na = 30 个旋转增强视图，覆盖工业场景中的姿态变化。</a:t>
            </a:r>
          </a:p>
        </p:txBody>
      </p:sp>
      <p:pic>
        <p:nvPicPr>
          <p:cNvPr id="17" name="Picture 16" descr="figure_4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19319"/>
            <a:ext cx="3154680" cy="2695817"/>
          </a:xfrm>
          <a:prstGeom prst="rect">
            <a:avLst/>
          </a:prstGeom>
        </p:spPr>
      </p:pic>
      <p:pic>
        <p:nvPicPr>
          <p:cNvPr id="18" name="Picture 17" descr="figure_5_back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486460"/>
            <a:ext cx="3154680" cy="2961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17720" y="49560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工程含义：子空间方法本身很轻，主要成本由 backbone 和输入分辨率决定。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PCA 正常子空间：论文的核心建模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正常变化被看作低维线性子空间，异常位于残差方向</a:t>
            </a:r>
          </a:p>
        </p:txBody>
      </p:sp>
      <p:pic>
        <p:nvPicPr>
          <p:cNvPr id="5" name="Picture 4" descr="technical_pca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91" y="1298448"/>
            <a:ext cx="2456018" cy="4617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353312"/>
            <a:ext cx="3429000" cy="10515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353312"/>
            <a:ext cx="54864" cy="10515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50792" y="1463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Normal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2" y="1792224"/>
            <a:ext cx="31181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X_normal 收集 k 张正常图及增强视图的所有 patch 特征。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53312"/>
            <a:ext cx="3429000" cy="10515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353312"/>
            <a:ext cx="54864" cy="10515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2" y="1463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PCA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2" y="1792224"/>
            <a:ext cx="311810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计算均值 mu 和协方差 Sigma；C 为前 r 个特征向量。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971800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40AF"/>
                </a:solidFill>
                <a:latin typeface="PingFang SC"/>
              </a:rPr>
              <a:t>x = mu + C z + epsilon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70332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PingFang SC"/>
              </a:rPr>
              <a:t>sum(lambda_i, i &lt;= r) &gt;= tau * sum(lambda_i),  tau = 0.99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407408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C 表示正常外观主变化方向。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tau 不能取 1.00，因为必须保留残差空间来承载异常信号。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异常评分：投影残差、图像级聚合、像素级定位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从 patch residual 到 heatmap，再到 image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044598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17245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2"/>
            <a:ext cx="1733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Extract test
patch feature x_p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8686" y="170078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4990" y="1417320"/>
            <a:ext cx="2044598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4990" y="141732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9582" y="1527048"/>
            <a:ext cx="17245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9582" y="1856232"/>
            <a:ext cx="1733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Project:
x_proj = mu + CC^T(x_p-mu)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7876" y="170078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4180" y="1417320"/>
            <a:ext cx="2044598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4180" y="141732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8772" y="1527048"/>
            <a:ext cx="17245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8772" y="1856232"/>
            <a:ext cx="1733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Residual:
S = ||x_p-x_proj||^2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7066" y="170078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3370" y="1417320"/>
            <a:ext cx="2044598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3370" y="141732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7962" y="1527048"/>
            <a:ext cx="17245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7962" y="1856232"/>
            <a:ext cx="1733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Upsample +
Gaussian smooth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256" y="170078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2560" y="1417320"/>
            <a:ext cx="2044598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22560" y="1417320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87152" y="1527048"/>
            <a:ext cx="17245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7152" y="1856232"/>
            <a:ext cx="1733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TVaR top 1%
image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2926080"/>
            <a:ext cx="5166360" cy="123444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2926080"/>
            <a:ext cx="54864" cy="123444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0358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为什么 top 1% 聚合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364992"/>
            <a:ext cx="4855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稀疏划痕可能只占少量 patch；平均全图会被大量正常背景稀释，top tail 更敏感。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926080"/>
            <a:ext cx="5166360" cy="123444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926080"/>
            <a:ext cx="54864" cy="123444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0358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为什么保留热图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3364992"/>
            <a:ext cx="4855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业务上不仅要二分类，还要给质检人员提供可复核证据：缺陷区域、阈值依据、误检来源。</a:t>
            </a:r>
          </a:p>
        </p:txBody>
      </p:sp>
      <p:pic>
        <p:nvPicPr>
          <p:cNvPr id="37" name="Picture 36" descr="figure_3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897" y="4498848"/>
            <a:ext cx="3491446" cy="1417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主实验：少样本设置下达到强基线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MVTec-AD 与 VisA，1/2/4-shot 正常样本</a:t>
            </a:r>
          </a:p>
        </p:txBody>
      </p:sp>
      <p:pic>
        <p:nvPicPr>
          <p:cNvPr id="5" name="Picture 4" descr="table_1_ma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01" y="1261872"/>
            <a:ext cx="6157837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07808" y="1417320"/>
            <a:ext cx="3611880" cy="86868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7808" y="1417320"/>
            <a:ext cx="54864" cy="8686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27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MVTec-AD 1-shot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56232"/>
            <a:ext cx="33009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PingFang SC"/>
              </a:rPr>
              <a:t>I-AUROC 97.1%
P-AUROC 97.5%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523744"/>
            <a:ext cx="3611880" cy="86868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7808" y="2523744"/>
            <a:ext cx="54864" cy="86868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633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VisA 1-shot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962656"/>
            <a:ext cx="33009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PingFang SC"/>
              </a:rPr>
              <a:t>I-AUROC 93.4%
P-AUROC 98.2%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3630168"/>
            <a:ext cx="361188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07808" y="3630168"/>
            <a:ext cx="54864" cy="11430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7398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相较 AnomalyDINO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069080"/>
            <a:ext cx="330098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PingFang SC"/>
              </a:rPr>
              <a:t>VisA 1-shot I-AUROC +6.0；PRO +1.0。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7808" y="5010912"/>
            <a:ext cx="3611880" cy="749808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07808" y="5010912"/>
            <a:ext cx="54864" cy="749808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1206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谨慎结论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449824"/>
            <a:ext cx="3300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多数指标领先，但不是所有单项都绝对第一。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定性结果：残差热图可以定位缺陷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热图质量决定它能否用于人工复核和阈值调参</a:t>
            </a:r>
          </a:p>
        </p:txBody>
      </p:sp>
      <p:pic>
        <p:nvPicPr>
          <p:cNvPr id="5" name="Picture 4" descr="figure_3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30407"/>
            <a:ext cx="10789920" cy="43800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064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PingFang SC"/>
              </a:rPr>
              <a:t>业务启发：即使最终交付是“划痕 / 正常”，也应保存 top patch、热图和阈值证据，方便质检人员复核。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消融结论：哪些因素真正关键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子空间要足够表达正常变化，但不能吞掉异常残差</a:t>
            </a:r>
          </a:p>
        </p:txBody>
      </p:sp>
      <p:pic>
        <p:nvPicPr>
          <p:cNvPr id="5" name="Picture 4" descr="figure_4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4" y="1417320"/>
            <a:ext cx="2835612" cy="2423160"/>
          </a:xfrm>
          <a:prstGeom prst="rect">
            <a:avLst/>
          </a:prstGeom>
        </p:spPr>
      </p:pic>
      <p:pic>
        <p:nvPicPr>
          <p:cNvPr id="6" name="Picture 5" descr="figure_5_back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204" y="1417320"/>
            <a:ext cx="2581192" cy="2423160"/>
          </a:xfrm>
          <a:prstGeom prst="rect">
            <a:avLst/>
          </a:prstGeom>
        </p:spPr>
      </p:pic>
      <p:pic>
        <p:nvPicPr>
          <p:cNvPr id="7" name="Picture 6" descr="table_4_pca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843" y="1417320"/>
            <a:ext cx="2603834" cy="2423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4315968"/>
            <a:ext cx="288036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315968"/>
            <a:ext cx="54864" cy="11430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4256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754880"/>
            <a:ext cx="256946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448 以上整体趋稳；672 是跨数据集稳健折中。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315968"/>
            <a:ext cx="288036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4315968"/>
            <a:ext cx="54864" cy="11430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2" y="44256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2" y="4754880"/>
            <a:ext cx="256946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DINOv2-G 最强；边缘部署可用 S/B/L 做速度折中。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315968"/>
            <a:ext cx="288036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4315968"/>
            <a:ext cx="54864" cy="114300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44256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PCA tau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4754880"/>
            <a:ext cx="256946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0.95-0.99 稳；1.00 明显下降，说明残差空间很关键。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481328"/>
            <a:ext cx="1417320" cy="3977639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481328"/>
            <a:ext cx="54864" cy="3977639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15910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1920240"/>
            <a:ext cx="1106424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强特征决定上限；PCA 阈值决定异常信号是否被保留下来。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论文方法如何迁移到业务任务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SubspaceAD 是 Normal-PCA baseline，不等于最终业务方案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38328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54864" cy="1143000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可直接借鉴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7238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特征抽取、PCA 子空间、投影残差、TVaR 聚合、热图可视化。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54864" cy="114300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270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需要改造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56232"/>
            <a:ext cx="307238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论文建正常子空间；业务更强调旧型号缺陷库到新型号的共享缺陷子空间。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38328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54864" cy="11430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2704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建议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856232"/>
            <a:ext cx="307238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Normal-PCA residual + Defect-prototype projection 双线验证。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090672"/>
            <a:ext cx="244830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3090672"/>
            <a:ext cx="54864" cy="82296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21282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29584"/>
            <a:ext cx="213741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旧型号标签
缺陷原型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7842" y="33741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4146" y="3090672"/>
            <a:ext cx="244830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54146" y="3090672"/>
            <a:ext cx="54864" cy="82296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8738" y="3200400"/>
            <a:ext cx="21282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8738" y="3529584"/>
            <a:ext cx="213741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新型号无标签
产线图像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0740" y="33741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7044" y="3090672"/>
            <a:ext cx="244830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67044" y="3090672"/>
            <a:ext cx="54864" cy="82296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36" y="3200400"/>
            <a:ext cx="21282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6" y="3529584"/>
            <a:ext cx="213741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共享投影
/距离计算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3638" y="33741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79942" y="3090672"/>
            <a:ext cx="2448306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79942" y="3090672"/>
            <a:ext cx="54864" cy="82296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4534" y="3200400"/>
            <a:ext cx="21282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4534" y="3529584"/>
            <a:ext cx="213741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划痕概率
+热图证据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Normal-PCA：验证新型号正常外观是否能形成稳定残差阈值。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Defect-prototype：验证旧型号划痕特征是否能跨型号投影迁移。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实验设计：先回答三个可证伪问题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先做可解释 baseline，再决定是否引入跨型号域对齐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53312"/>
            <a:ext cx="352044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54864" cy="1078992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PingFang SC"/>
              </a:rPr>
              <a:t>实验 1：正常子空间是否成立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92224"/>
            <a:ext cx="32095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每个新型号取少量正常图拟合 Normal-PCA，测试划痕残差是否稳定高于正常区域。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353312"/>
            <a:ext cx="352044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353312"/>
            <a:ext cx="54864" cy="107899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实验 2：缺陷原型能否迁移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792224"/>
            <a:ext cx="32095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旧型号划痕 patch 构建 defect prototype / defect PCA，新型号投影后看距离和热图位置。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353312"/>
            <a:ext cx="3520440" cy="1078992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11312" y="1353312"/>
            <a:ext cx="54864" cy="1078992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实验 3：域对齐是否有收益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1792224"/>
            <a:ext cx="32095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旧型号有标签 + 新型号无标签，加入 pull / push 投影目标，对比不对齐 baseline。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16352"/>
            <a:ext cx="2026310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816352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1706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55264"/>
            <a:ext cx="17154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Data split
old/new/type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6118" y="309981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2422" y="2816352"/>
            <a:ext cx="2026310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2422" y="2816352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7014" y="2926080"/>
            <a:ext cx="1706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7014" y="3255264"/>
            <a:ext cx="17154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Feature extraction
patch/region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7020" y="309981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3324" y="2816352"/>
            <a:ext cx="2026310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13324" y="2816352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77916" y="2926080"/>
            <a:ext cx="1706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7916" y="3255264"/>
            <a:ext cx="17154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Normal residual
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7922" y="309981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04226" y="2816352"/>
            <a:ext cx="2026310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04226" y="2816352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8818" y="2926080"/>
            <a:ext cx="1706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8818" y="3255264"/>
            <a:ext cx="17154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Defect projection
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8824" y="309981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PingFang SC"/>
              </a:rP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95128" y="2816352"/>
            <a:ext cx="2026310" cy="82296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5128" y="2816352"/>
            <a:ext cx="54864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9720" y="2926080"/>
            <a:ext cx="17062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ingFang SC"/>
              </a:rPr>
              <a:t>Step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9720" y="3255264"/>
            <a:ext cx="171541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ingFang SC"/>
              </a:rPr>
              <a:t>UDA ablation
if needed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8920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评估：I-AUROC、P-AUROC、PRO、误检率、漏检率、阈值稳定性、人工复核成本。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PingFang SC"/>
              </a:defRPr>
            </a:pPr>
            <a:r>
              <a:t>必要可视化：投影前后点云、top patch 位置、异常热图、阈值曲线、跨型号分组结果。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ingFang SC"/>
              </a:rPr>
              <a:t>风险、限制与下一步问题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11018520" cy="27432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14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需要把样本条件和验证顺序说清楚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337560" cy="109728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17320"/>
            <a:ext cx="54864" cy="109728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PingFang SC"/>
              </a:rPr>
              <a:t>风险 1：算力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26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DINOv2-G 成本高；实际部署可能要用 S/B 模型或蒸馏特征。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09728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54864" cy="109728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270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PingFang SC"/>
              </a:rPr>
              <a:t>风险 2：线性假设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56232"/>
            <a:ext cx="3026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PCA 是线性子空间；强反光和复杂纹理可能需要 robust PCA / metric learning。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337560" cy="109728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54864" cy="109728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270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PingFang SC"/>
              </a:rPr>
              <a:t>风险 3：样本条件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856232"/>
            <a:ext cx="3026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PingFang SC"/>
              </a:rPr>
              <a:t>如果新型号完全无正常样本，Normal-PCA 不成立，需要旧库缺陷子空间或 batched zero-shot。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35808"/>
            <a:ext cx="3246120" cy="118872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035808"/>
            <a:ext cx="54864" cy="118872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145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问题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474720"/>
            <a:ext cx="2935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PingFang SC"/>
              </a:rPr>
              <a:t>业务是否允许每个新型号采少量正常图作为启动样本？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035808"/>
            <a:ext cx="3246120" cy="118872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035808"/>
            <a:ext cx="54864" cy="118872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3145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问题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474720"/>
            <a:ext cx="2935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PingFang SC"/>
              </a:rPr>
              <a:t>划痕标注应做到 image-level、patch-level，还是只需要少量人工确认点？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35808"/>
            <a:ext cx="3246120" cy="1188720"/>
          </a:xfrm>
          <a:prstGeom prst="roundRect">
            <a:avLst/>
          </a:prstGeom>
          <a:solidFill>
            <a:srgbClr val="F4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035808"/>
            <a:ext cx="54864" cy="1188720"/>
          </a:xfrm>
          <a:prstGeom prst="rect">
            <a:avLst/>
          </a:prstGeom>
          <a:solidFill>
            <a:srgbClr val="B47E22"/>
          </a:solidFill>
          <a:ln>
            <a:solidFill>
              <a:srgbClr val="B4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145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22"/>
                </a:solidFill>
                <a:latin typeface="PingFang SC"/>
              </a:rPr>
              <a:t>问题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474720"/>
            <a:ext cx="2935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PingFang SC"/>
              </a:rPr>
              <a:t>第一阶段优先追求可解释 baseline，还是直接做 UDA 共享投影矩阵？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5604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PingFang SC"/>
              </a:rPr>
              <a:t>建议：先用 Normal-PCA 做 sanity check，再用旧型号缺陷原型验证跨型号投影；两个 baseline 都站不住时，再进入 UDA 或非线性子空间建模。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ingFang SC"/>
              </a:rPr>
              <a:t>SubspaceAD / Feature Subspace Projection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