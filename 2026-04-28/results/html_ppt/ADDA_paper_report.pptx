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47548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>
                <a:solidFill>
                  <a:srgbClr val="1D4ED8"/>
                </a:solidFill>
                <a:latin typeface="Arial"/>
              </a:defRPr>
            </a:pPr>
            <a:r>
              <a:rPr sz="900" b="1">
                <a:solidFill>
                  <a:srgbClr val="1D4ED8"/>
                </a:solidFill>
                <a:latin typeface="Arial"/>
              </a:rPr>
              <a:t>MENTOR PAPER REPORT · 2026-04-28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608076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3000" b="1">
                <a:solidFill>
                  <a:srgbClr val="08233E"/>
                </a:solidFill>
                <a:latin typeface="Arial"/>
              </a:defRPr>
            </a:pPr>
            <a:r>
              <a:rPr sz="3000" b="1">
                <a:solidFill>
                  <a:srgbClr val="08233E"/>
                </a:solidFill>
                <a:latin typeface="Arial"/>
              </a:rPr>
              <a:t>ADDA：</a:t>
            </a:r>
            <a:br/>
            <a:r>
              <a:rPr sz="3000" b="1">
                <a:solidFill>
                  <a:srgbClr val="08233E"/>
                </a:solidFill>
                <a:latin typeface="Arial"/>
              </a:rPr>
              <a:t>对抗判别式域适应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907792"/>
            <a:ext cx="539496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</a:rPr>
              <a:t>Adversarial Discriminative Domain Adaptation</a:t>
            </a:r>
            <a:br/>
            <a:r>
              <a:rPr sz="1500" b="0">
                <a:solidFill>
                  <a:srgbClr val="475569"/>
                </a:solidFill>
                <a:latin typeface="Arial"/>
              </a:rPr>
              <a:t>目标：说清域适应怎么做、为什么有效、对电池缺陷检测能不能用。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12064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281399"/>
            <a:ext cx="4800600" cy="15702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4315968"/>
            <a:ext cx="16916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80559"/>
            <a:ext cx="136245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59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无监督域适应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4315968"/>
            <a:ext cx="16916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4480559"/>
            <a:ext cx="136245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937759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对抗学习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315968"/>
            <a:ext cx="16916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4480559"/>
            <a:ext cx="136245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4937759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特征子空间对齐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87568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核心问题：源域有标签、目标域无标签时，如何让分类器跨域迁移？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 / 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6096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今天聊什么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2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2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5146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920240"/>
            <a:ext cx="457200" cy="365760"/>
          </a:xfrm>
          <a:prstGeom prst="round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2062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14600"/>
            <a:ext cx="21488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08233E"/>
                </a:solidFill>
                <a:latin typeface="Arial"/>
              </a:defRPr>
            </a:pPr>
            <a:r>
              <a:rPr sz="1800" b="1">
                <a:solidFill>
                  <a:srgbClr val="08233E"/>
                </a:solidFill>
                <a:latin typeface="Arial"/>
              </a:rPr>
              <a:t>问题与动机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017520"/>
            <a:ext cx="214884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300" b="0">
                <a:solidFill>
                  <a:srgbClr val="475569"/>
                </a:solidFill>
                <a:latin typeface="Arial"/>
              </a:rPr>
              <a:t>域偏移为什么让模型失效；我们的缺陷检测痛点。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25146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2" y="1920240"/>
            <a:ext cx="457200" cy="365760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938528"/>
            <a:ext cx="42062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514600"/>
            <a:ext cx="21488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08233E"/>
                </a:solidFill>
                <a:latin typeface="Arial"/>
              </a:defRPr>
            </a:pPr>
            <a:r>
              <a:rPr sz="1800" b="1">
                <a:solidFill>
                  <a:srgbClr val="08233E"/>
                </a:solidFill>
                <a:latin typeface="Arial"/>
              </a:rPr>
              <a:t>ADDA 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017520"/>
            <a:ext cx="214884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300" b="0">
                <a:solidFill>
                  <a:srgbClr val="475569"/>
                </a:solidFill>
                <a:latin typeface="Arial"/>
              </a:rPr>
              <a:t>三阶段训练流程、对抗对齐原理、权重不共享的设计。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91640"/>
            <a:ext cx="25146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1920240"/>
            <a:ext cx="457200" cy="36576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19" y="1938528"/>
            <a:ext cx="42062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514600"/>
            <a:ext cx="21488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08233E"/>
                </a:solidFill>
                <a:latin typeface="Arial"/>
              </a:defRPr>
            </a:pPr>
            <a:r>
              <a:rPr sz="1800" b="1">
                <a:solidFill>
                  <a:srgbClr val="08233E"/>
                </a:solidFill>
                <a:latin typeface="Arial"/>
              </a:rPr>
              <a:t>实验证据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3017520"/>
            <a:ext cx="214884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300" b="0">
                <a:solidFill>
                  <a:srgbClr val="475569"/>
                </a:solidFill>
                <a:latin typeface="Arial"/>
              </a:rPr>
              <a:t>数字数据集跨域结果、NYUD 跨模态迁移、对比分析。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691640"/>
            <a:ext cx="25146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17151" y="1920240"/>
            <a:ext cx="457200" cy="3657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39" y="1938528"/>
            <a:ext cx="42062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2514600"/>
            <a:ext cx="21488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08233E"/>
                </a:solidFill>
                <a:latin typeface="Arial"/>
              </a:defRPr>
            </a:pPr>
            <a:r>
              <a:rPr sz="1800" b="1">
                <a:solidFill>
                  <a:srgbClr val="08233E"/>
                </a:solidFill>
                <a:latin typeface="Arial"/>
              </a:rPr>
              <a:t>应用讨论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1" y="3017520"/>
            <a:ext cx="214884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300" b="0">
                <a:solidFill>
                  <a:srgbClr val="475569"/>
                </a:solidFill>
                <a:latin typeface="Arial"/>
              </a:rPr>
              <a:t>能否用到电池缺陷检测、局限与风险、组合方案建议。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577840"/>
            <a:ext cx="10789920" cy="68580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4243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08233E"/>
                </a:solidFill>
                <a:latin typeface="Arial"/>
              </a:defRPr>
            </a:pPr>
            <a:r>
              <a:rPr sz="1300" b="1">
                <a:solidFill>
                  <a:srgbClr val="08233E"/>
                </a:solidFill>
                <a:latin typeface="Arial"/>
              </a:rPr>
              <a:t>核心结论先剧透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742432"/>
            <a:ext cx="8412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Arial"/>
              </a:defRPr>
            </a:pPr>
            <a:r>
              <a:rPr sz="1400" b="0">
                <a:solidFill>
                  <a:srgbClr val="111827"/>
                </a:solidFill>
                <a:latin typeface="Arial"/>
              </a:rPr>
              <a:t>ADDA 适合做域适应基线，但不能单独解决“第六款没有划痕样本”的根本风险。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我们的痛点：跨产品缺陷泛化差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3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8288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前五款电池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305409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有缺陷样本与标签。划痕、正常、其他缺陷类别提供监督信号。分类器在五款上表现很好。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76479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400" b="1">
                <a:solidFill>
                  <a:srgbClr val="D97706"/>
                </a:solidFill>
                <a:latin typeface="Arial"/>
              </a:rPr>
              <a:t>直接迁移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21992"/>
            <a:ext cx="305409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泛化性明显下降。第六款电池的材质、光照、纹理变了，特征空间偏移，分类器失准。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76479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rPr sz="1400" b="1">
                <a:solidFill>
                  <a:srgbClr val="B91C1C"/>
                </a:solidFill>
                <a:latin typeface="Arial"/>
              </a:rPr>
              <a:t>第六款电池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221992"/>
            <a:ext cx="305409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没有划痕标签。暂时无法重新标注，需要无监督或半监督方法弥合域差距。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10789920" cy="123444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6732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本质问题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730752"/>
            <a:ext cx="8778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</a:rPr>
              <a:t>产品外观域特征子空间压过了缺陷语义子空间；分类器学到的是“哪款产品”，而不是“有什么缺陷”。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10424160" cy="7315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域适应要做的事情：把目标域特征簇拉到源域特征簇附近，让“划痕”和“正常”的判别边界在目标域上也能生效。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ADDA 提供了一个清晰的对齐思路：用对抗训练拉近两个域的特征分布。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02 · DOMAIN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什么是域偏移：同样的划痕，不同的“长相”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4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24384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475488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44256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源域：前五款电池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4425696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相同缺陷在不同产品上成像差异大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光照、材质、纹理、相机参数不同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特征空间按产品聚类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600200"/>
            <a:ext cx="475488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1" y="1764792"/>
            <a:ext cx="44256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rPr sz="1400" b="1">
                <a:solidFill>
                  <a:srgbClr val="B91C1C"/>
                </a:solidFill>
                <a:latin typeface="Arial"/>
              </a:rPr>
              <a:t>目标域：第六款电池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2221992"/>
            <a:ext cx="4425696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划痕物理形态类似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但图像特征分布与前五款差异大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源域分类器无法覆盖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10789920" cy="123444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特征空间视角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913632"/>
            <a:ext cx="8686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</a:rPr>
              <a:t>理想状态下，同类缺陷应聚在一起；但域偏移让特征按产品线分离，缺陷语义被淹没。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域适应要做的事情：把目标域特征簇拉到源域特征簇附近，让缺陷判别边界在目标域上也能生效。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03 · WHY THIS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ADDA 要解决什么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30480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无监督域适应的经典设定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305409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源域有标签 (Xs, Ys)，目标域只有图像 Xt，没有标签。希望模型在目标域上也能正确分类。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76479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对抗学习对齐特征分布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21992"/>
            <a:ext cx="305409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训练一个域判别器区分源/目标特征，再训练目标编码器欺骗判别器，从而拉近两个域的特征分布。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76479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400" b="1">
                <a:solidFill>
                  <a:srgbClr val="D97706"/>
                </a:solidFill>
                <a:latin typeface="Arial"/>
              </a:rPr>
              <a:t>判别式而非生成式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221992"/>
            <a:ext cx="305409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不生成目标域图像，只对齐特征空间。更轻量、更稳定，尤其适合分类任务。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10789920" cy="123444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6732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对应电池场景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730752"/>
            <a:ext cx="8686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</a:rPr>
              <a:t>前五款电池作为源域，第六款无标签图像作为目标域。目标是让第六款的表面纹理被拉到已有特征空间里，源域缺陷分类头可以继续使用。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04 ·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统一对抗域适应框架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6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36576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236"/>
                <a:gridCol w="2427732"/>
                <a:gridCol w="2427732"/>
                <a:gridCol w="2023110"/>
                <a:gridCol w="2023110"/>
              </a:tblGrid>
              <a:tr h="512064"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设计选择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DANN (梯度反转)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Domain Confusion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CoGAN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ADDA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基础模型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预训练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预训练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预训练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预训练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权重共享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全部共享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部分共享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不共享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不共享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对抗损失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梯度反转层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域混淆损失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GAN loss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GAN loss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建模方式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判别式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判别式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生成式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判别式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434840"/>
            <a:ext cx="10789920" cy="123444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8172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关键设计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645152"/>
            <a:ext cx="8778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</a:rPr>
              <a:t>权重不共享 + GAN loss：目标编码器可以自由适应目标域的低层纹理，同时被约束在对齐的特征空间里。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05 ·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三阶段训练流程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7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42672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3756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828800"/>
            <a:ext cx="457200" cy="365760"/>
          </a:xfrm>
          <a:prstGeom prst="round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42062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23160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08233E"/>
                </a:solidFill>
                <a:latin typeface="Arial"/>
              </a:defRPr>
            </a:pPr>
            <a:r>
              <a:rPr sz="1800" b="1">
                <a:solidFill>
                  <a:srgbClr val="08233E"/>
                </a:solidFill>
                <a:latin typeface="Arial"/>
              </a:rPr>
              <a:t>源域预训练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26080"/>
            <a:ext cx="292608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300" b="0">
                <a:solidFill>
                  <a:srgbClr val="475569"/>
                </a:solidFill>
                <a:latin typeface="Arial"/>
              </a:rPr>
              <a:t>用源域标签训练源编码器 Ms 和分类器 C。</a:t>
            </a:r>
            <a:br/>
            <a:r>
              <a:rPr sz="1300" b="0">
                <a:solidFill>
                  <a:srgbClr val="475569"/>
                </a:solidFill>
                <a:latin typeface="Arial"/>
              </a:rPr>
              <a:t>目标：最小化分类损失 L_cls。</a:t>
            </a:r>
            <a:br/>
            <a:r>
              <a:rPr sz="1300" b="0">
                <a:solidFill>
                  <a:srgbClr val="475569"/>
                </a:solidFill>
                <a:latin typeface="Arial"/>
              </a:rPr>
              <a:t>此阶段完成后，Ms 和 C 参数固定。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33756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1828800"/>
            <a:ext cx="457200" cy="365760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847088"/>
            <a:ext cx="42062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08233E"/>
                </a:solidFill>
                <a:latin typeface="Arial"/>
              </a:defRPr>
            </a:pPr>
            <a:r>
              <a:rPr sz="1800" b="1">
                <a:solidFill>
                  <a:srgbClr val="08233E"/>
                </a:solidFill>
                <a:latin typeface="Arial"/>
              </a:rPr>
              <a:t>对抗对齐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926080"/>
            <a:ext cx="292608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300" b="0">
                <a:solidFill>
                  <a:srgbClr val="475569"/>
                </a:solidFill>
                <a:latin typeface="Arial"/>
              </a:rPr>
              <a:t>固定 Ms，训练域判别器 D 和目标编码器 Mt。</a:t>
            </a:r>
            <a:br/>
            <a:r>
              <a:rPr sz="1300" b="0">
                <a:solidFill>
                  <a:srgbClr val="475569"/>
                </a:solidFill>
                <a:latin typeface="Arial"/>
              </a:rPr>
              <a:t>D 学习区分源/目标特征；Mt 学习欺骗 D。</a:t>
            </a:r>
            <a:br/>
            <a:r>
              <a:rPr sz="1300" b="0">
                <a:solidFill>
                  <a:srgbClr val="475569"/>
                </a:solidFill>
                <a:latin typeface="Arial"/>
              </a:rPr>
              <a:t>对抗博弈让 Mt(Xt) ≈ Ms(Xs)。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33756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1" y="1828800"/>
            <a:ext cx="457200" cy="36576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847088"/>
            <a:ext cx="42062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423160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08233E"/>
                </a:solidFill>
                <a:latin typeface="Arial"/>
              </a:defRPr>
            </a:pPr>
            <a:r>
              <a:rPr sz="1800" b="1">
                <a:solidFill>
                  <a:srgbClr val="08233E"/>
                </a:solidFill>
                <a:latin typeface="Arial"/>
              </a:rPr>
              <a:t>目标域推理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926080"/>
            <a:ext cx="292608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rPr sz="1300" b="0">
                <a:solidFill>
                  <a:srgbClr val="475569"/>
                </a:solidFill>
                <a:latin typeface="Arial"/>
              </a:rPr>
              <a:t>测试时只用目标编码器 + 源分类器。</a:t>
            </a:r>
            <a:br/>
            <a:r>
              <a:rPr sz="1300" b="0">
                <a:solidFill>
                  <a:srgbClr val="475569"/>
                </a:solidFill>
                <a:latin typeface="Arial"/>
              </a:rPr>
              <a:t>输入目标图像 → Mt 提取特征 → C 输出分类。</a:t>
            </a:r>
            <a:br/>
            <a:r>
              <a:rPr sz="1300" b="0">
                <a:solidFill>
                  <a:srgbClr val="475569"/>
                </a:solidFill>
                <a:latin typeface="Arial"/>
              </a:rPr>
              <a:t>不需要判别器 D，也不需要目标域标签。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50" b="1">
                <a:solidFill>
                  <a:srgbClr val="08233E"/>
                </a:solidFill>
                <a:latin typeface="Arial"/>
              </a:defRPr>
            </a:pPr>
            <a:r>
              <a:rPr sz="1350" b="1">
                <a:solidFill>
                  <a:srgbClr val="08233E"/>
                </a:solidFill>
                <a:latin typeface="Arial"/>
              </a:rPr>
              <a:t>对应电池场景：阶段1 = 前五款训练缺陷分类器；阶段2 = 用第六款无标签图像做对抗对齐；阶段3 = 第六款图像直接进分类器出结果。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06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ADDA 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8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48768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da_pipeline_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713" y="1572768"/>
            <a:ext cx="6122093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4983480"/>
            <a:ext cx="52120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148072"/>
            <a:ext cx="48828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关键观察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5605272"/>
            <a:ext cx="4882896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Source CNN 训练后固定（虚线），Target CNN 单独学习自己的低层映射。域判别器 D 只在第二阶段参与。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983480"/>
            <a:ext cx="52578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5148072"/>
            <a:ext cx="492861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对应电池场景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5605272"/>
            <a:ext cx="4928616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Source CNN = 前五款特征提取器；Target CNN = 第六款特征提取器。分类器 C 复用前五款的缺陷分类头。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07 ·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三个优化目标：分类 + 判别 + 欺骗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9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54864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21792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da_objective_eq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569" y="1572768"/>
            <a:ext cx="225038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508760"/>
            <a:ext cx="4297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42631" y="1673351"/>
            <a:ext cx="39684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① 分类损失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2631" y="2130552"/>
            <a:ext cx="3968496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min L_cls(Xs, Ys)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用源域标签训练源编码器和分类器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926080"/>
            <a:ext cx="4297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2631" y="3090672"/>
            <a:ext cx="39684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400" b="1">
                <a:solidFill>
                  <a:srgbClr val="D97706"/>
                </a:solidFill>
                <a:latin typeface="Arial"/>
              </a:rPr>
              <a:t>② 判别器损失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2631" y="3547872"/>
            <a:ext cx="3968496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min L_advD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让 D 正确区分源/目标特征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4343400"/>
            <a:ext cx="4297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2631" y="4507992"/>
            <a:ext cx="39684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③ 目标编码器损失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4965192"/>
            <a:ext cx="3968496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min L_advM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让 Mt 特征被 D 误认为源域特征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08 ·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为什么对抗对齐有效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60960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1208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48828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rPr sz="1400" b="1">
                <a:solidFill>
                  <a:srgbClr val="B91C1C"/>
                </a:solidFill>
                <a:latin typeface="Arial"/>
              </a:rPr>
              <a:t>对齐前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4882896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源域和目标域特征分布差异大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源域分类边界在目标域上失效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模型预测塌缩：全部预测为多数类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600200"/>
            <a:ext cx="521208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1" y="1764792"/>
            <a:ext cx="48828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对齐后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2221992"/>
            <a:ext cx="4882896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目标域特征被拉到源域特征空间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源域分类边界可以继续使用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预测分布更分散，更接近有监督结果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10789920" cy="123444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核心逻辑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913632"/>
            <a:ext cx="8778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</a:rPr>
              <a:t>如果 Mt(Xt) ≈ Ms(Xs)，那么源域学到的分类器 C 就能直接用到目标域特征上。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电池场景含义：如果第六款的特征被拉到前五款的特征空间里，前五款训练的划痕分类器就可以直接处理第六款图像。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09 · 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为什么不共享权重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11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67056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7899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491"/>
                <a:gridCol w="4281714"/>
                <a:gridCol w="4281714"/>
              </a:tblGrid>
              <a:tr h="512064"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维度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共享权重 (DANN)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不共享权重 (ADDA)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底层映射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源/目标用同一套，被绑死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目标编码器独立学习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大域偏移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可能限制对齐效果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SVHN→MNIST 明显更稳定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约束作用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全层受到梯度反转约束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只在高层特征空间对齐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代表方法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梯度反转、Domain Confusion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ADDA (GAN loss)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434840"/>
            <a:ext cx="10789920" cy="123444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8172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电池场景意义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617720"/>
            <a:ext cx="8686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Arial"/>
              </a:defRPr>
            </a:pPr>
            <a:r>
              <a:rPr sz="1400" b="0">
                <a:solidFill>
                  <a:srgbClr val="111827"/>
                </a:solidFill>
                <a:latin typeface="Arial"/>
              </a:rPr>
              <a:t>不同电池型号的表面纹理差异可能很大——光泽度、颗粒感、反光模式都不同。让目标编码器独立学习底层映射，可以更好地捕捉第六款特有的纹理特征。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10 · PREREQUISITE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ADDA 的前提条件：不是万能的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12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73152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✓ 前提 1：目标域有无标签图像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305409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ADDA 必须有目标域图像 Xt 来训练目标编码器和判别器。如果第六款电池连无标签图像都没有，ADDA 无法启动。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76479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400" b="1">
                <a:solidFill>
                  <a:srgbClr val="D97706"/>
                </a:solidFill>
                <a:latin typeface="Arial"/>
              </a:rPr>
              <a:t>? 前提 2：目标域图像包含缺陷样本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21992"/>
            <a:ext cx="305409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ADDA 对齐的是边缘分布 P(X)，不是条件分布 P(Y|X)。如果目标域只有正常样本，划痕子空间可能无法被正确对齐。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76479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rPr sz="1400" b="1">
                <a:solidFill>
                  <a:srgbClr val="B91C1C"/>
                </a:solidFill>
                <a:latin typeface="Arial"/>
              </a:rPr>
              <a:t>! 前提 3：源/目标类别空间一致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221992"/>
            <a:ext cx="305409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ADDA 假设源域和目标域共享相同的类别标签集合。如果第六款出现了前五款没有的缺陷类型，ADDA 无法处理。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10789920" cy="141732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6732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rPr sz="1400" b="1">
                <a:solidFill>
                  <a:srgbClr val="B91C1C"/>
                </a:solidFill>
                <a:latin typeface="Arial"/>
              </a:rPr>
              <a:t>风险提醒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730752"/>
            <a:ext cx="8778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</a:rPr>
              <a:t>如果第六款只有正常样本，ADDA 可能只对齐正常表面纹理，无法保证划痕子空间被正确迁移。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49240"/>
            <a:ext cx="10424160" cy="7315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ADDA 对齐的是边缘分布 P(X)，不是条件分布 P(Y|X) —— 这是核心局限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对电池场景的意义：前五款的划痕标签不能自动覆盖第六款的划痕特征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11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实验 1：数字数据集跨域迁移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13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7924799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70332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1D4ED8"/>
                </a:solidFill>
                <a:latin typeface="Arial"/>
              </a:defRPr>
            </a:pPr>
            <a:r>
              <a:rPr sz="2200" b="1">
                <a:solidFill>
                  <a:srgbClr val="1D4ED8"/>
                </a:solidFill>
                <a:latin typeface="Arial"/>
              </a:rPr>
              <a:t>90.1%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755648"/>
            <a:ext cx="187451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</a:rPr>
              <a:t>USPS → MNIST (ADDA)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475569"/>
                </a:solidFill>
                <a:latin typeface="Arial"/>
              </a:defRPr>
            </a:pPr>
            <a:r>
              <a:rPr sz="2200" b="1">
                <a:solidFill>
                  <a:srgbClr val="475569"/>
                </a:solidFill>
                <a:latin typeface="Arial"/>
              </a:rPr>
              <a:t>89.1%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670048"/>
            <a:ext cx="187451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</a:rPr>
              <a:t>USPS → MNIST (CoGAN)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1D4ED8"/>
                </a:solidFill>
                <a:latin typeface="Arial"/>
              </a:defRPr>
            </a:pPr>
            <a:r>
              <a:rPr sz="2200" b="1">
                <a:solidFill>
                  <a:srgbClr val="1D4ED8"/>
                </a:solidFill>
                <a:latin typeface="Arial"/>
              </a:rPr>
              <a:t>76.0%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584448"/>
            <a:ext cx="187451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</a:rPr>
              <a:t>SVHN → MNIST (ADDA)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B91C1C"/>
                </a:solidFill>
                <a:latin typeface="Arial"/>
              </a:defRPr>
            </a:pPr>
            <a:r>
              <a:rPr sz="2200" b="1">
                <a:solidFill>
                  <a:srgbClr val="B91C1C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498848"/>
            <a:ext cx="187451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</a:rPr>
              <a:t>SVHN → MNIST (CoGAN 未收敛)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417320"/>
            <a:ext cx="690372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igits_results_tab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405485"/>
            <a:ext cx="6537960" cy="231220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5879592"/>
            <a:ext cx="104241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08233E"/>
                </a:solidFill>
                <a:latin typeface="Arial"/>
              </a:defRPr>
            </a:pPr>
            <a:r>
              <a:rPr sz="1300" b="1">
                <a:solidFill>
                  <a:srgbClr val="08233E"/>
                </a:solidFill>
                <a:latin typeface="Arial"/>
              </a:rPr>
              <a:t>域偏移越大（SVHN → MNIST），判别式方法越稳定；生成式方法 (CoGAN) 在大偏移下可能不收敛。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12 · CROSS-MODAL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实验 2：跨模态目标分类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14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85344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120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48828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从 RGB 到深度图：域偏移极大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48828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RGB 图像和深度/HHA 图的成像原理完全不同，是最接近工业跨域的场景。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764792"/>
            <a:ext cx="48828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Source only: 13.9% → ADDA: 21.1%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221992"/>
            <a:ext cx="48828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整体准确率提升显著。无目标标签时，对抗对齐带来了 7 个百分点以上的提升。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1078992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yud_results_tab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70732"/>
            <a:ext cx="10424160" cy="20848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6263640"/>
            <a:ext cx="104241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08233E"/>
                </a:solidFill>
                <a:latin typeface="Arial"/>
              </a:defRPr>
            </a:pPr>
            <a:r>
              <a:rPr sz="1300" b="1">
                <a:solidFill>
                  <a:srgbClr val="08233E"/>
                </a:solidFill>
                <a:latin typeface="Arial"/>
              </a:rPr>
              <a:t>并非所有类别都提升——某些类别在域适应后仍然无法恢复。这对缺陷检测是重要警示。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13 · QUALITATIVE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预测塌缩 vs 对齐后恢复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91440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2926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fusion_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392" y="1572768"/>
            <a:ext cx="5678735" cy="2606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4709160"/>
            <a:ext cx="52120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4873752"/>
            <a:ext cx="48828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rPr sz="1400" b="1">
                <a:solidFill>
                  <a:srgbClr val="B91C1C"/>
                </a:solidFill>
                <a:latin typeface="Arial"/>
              </a:rPr>
              <a:t>Source only 的症状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5330952"/>
            <a:ext cx="48828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目标域预测严重塌缩。大部分样本被预测为同一个多数类。混淆矩阵呈现“一列高、其余低”。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709160"/>
            <a:ext cx="52120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4873752"/>
            <a:ext cx="48828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ADDA 对齐后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5330952"/>
            <a:ext cx="48828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预测分布更分散、更均匀。更接近有目标域监督训练的结果。但仍有部分类别恢复不完全。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14 ·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能否用到电池缺陷检测？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16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97536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120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48828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✓ 可以用作域适应基线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48828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前五款作源域、第六款正常图像作目标域，ADDA 可以削弱产品外观域偏移。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764792"/>
            <a:ext cx="48828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✓ 不需要第六款标签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221992"/>
            <a:ext cx="48828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只需要第六款的无标签图像就能启动对抗对齐。产线正常品图像即可。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00400"/>
            <a:ext cx="107899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364992"/>
            <a:ext cx="1046073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rPr sz="1400" b="1">
                <a:solidFill>
                  <a:srgbClr val="B91C1C"/>
                </a:solidFill>
                <a:latin typeface="Arial"/>
              </a:rPr>
              <a:t>! 不能单独解决划痕迁移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822191"/>
            <a:ext cx="1046073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ADDA 对齐边缘分布，不保证划痕子空间被正确对齐。如果第六款无标签数据中没有划痕，对抗对齐看不到目标域划痕的真实形态。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4937760"/>
          <a:ext cx="1078991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491"/>
                <a:gridCol w="4281714"/>
                <a:gridCol w="4281714"/>
              </a:tblGrid>
              <a:tr h="548640"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ADDA 做到的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ADDA 做不到的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对齐目标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Ms(Xs) ≈ Mt(Xt)</a:t>
                      </a:r>
                    </a:p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边缘特征分布对齐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Ps(Y|Ms(Xs)) ≈ Pt(Y|Mt(Xt))</a:t>
                      </a:r>
                    </a:p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类别条件分布对齐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15 ·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更稳妥的组合方案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17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03632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01168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411480" cy="329184"/>
          </a:xfrm>
          <a:prstGeom prst="round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47088"/>
            <a:ext cx="37490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多源缺陷库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169164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rial"/>
              </a:defRPr>
            </a:pPr>
            <a:r>
              <a:rPr sz="1150" b="0">
                <a:solidFill>
                  <a:srgbClr val="475569"/>
                </a:solidFill>
                <a:latin typeface="Arial"/>
              </a:rPr>
              <a:t>五款电池作为多源域，提供更丰富的缺陷特征覆盖。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00200"/>
            <a:ext cx="201168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1828800"/>
            <a:ext cx="411480" cy="329184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847088"/>
            <a:ext cx="37490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33172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ADDA 域适应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34640"/>
            <a:ext cx="169164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rial"/>
              </a:defRPr>
            </a:pPr>
            <a:r>
              <a:rPr sz="1150" b="0">
                <a:solidFill>
                  <a:srgbClr val="475569"/>
                </a:solidFill>
                <a:latin typeface="Arial"/>
              </a:rPr>
              <a:t>用对抗对齐削弱产品外观域偏移，作为域适应基线。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600200"/>
            <a:ext cx="201168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60" y="1828800"/>
            <a:ext cx="411480" cy="329184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847088"/>
            <a:ext cx="37490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3172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类条件约束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834640"/>
            <a:ext cx="169164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rial"/>
              </a:defRPr>
            </a:pPr>
            <a:r>
              <a:rPr sz="1150" b="0">
                <a:solidFill>
                  <a:srgbClr val="475569"/>
                </a:solidFill>
                <a:latin typeface="Arial"/>
              </a:rPr>
              <a:t>加入原型约束或 MMD/CORAL，保证划痕子空间也正确对齐。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600200"/>
            <a:ext cx="201168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1828800"/>
            <a:ext cx="411480" cy="329184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1847088"/>
            <a:ext cx="37490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33172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少量主动标注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834640"/>
            <a:ext cx="169164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rial"/>
              </a:defRPr>
            </a:pPr>
            <a:r>
              <a:rPr sz="1150" b="0">
                <a:solidFill>
                  <a:srgbClr val="475569"/>
                </a:solidFill>
                <a:latin typeface="Arial"/>
              </a:rPr>
              <a:t>对第六款少量高不确定性样本做人工标注，弥补条件分布对齐不足。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1600200"/>
            <a:ext cx="201168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46920" y="1828800"/>
            <a:ext cx="411480" cy="329184"/>
          </a:xfrm>
          <a:prstGeom prst="round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65208" y="1847088"/>
            <a:ext cx="37490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33172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异常检测兜底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834640"/>
            <a:ext cx="169164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rial"/>
              </a:defRPr>
            </a:pPr>
            <a:r>
              <a:rPr sz="1150" b="0">
                <a:solidFill>
                  <a:srgbClr val="475569"/>
                </a:solidFill>
                <a:latin typeface="Arial"/>
              </a:rPr>
              <a:t>用正常样本 PCA 残差或 Mahalanobis 距离做异常检测，覆盖未知的缺陷类型。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486400"/>
            <a:ext cx="10789920" cy="68580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50992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08233E"/>
                </a:solidFill>
                <a:latin typeface="Arial"/>
              </a:defRPr>
            </a:pPr>
            <a:r>
              <a:rPr sz="1300" b="1">
                <a:solidFill>
                  <a:srgbClr val="08233E"/>
                </a:solidFill>
                <a:latin typeface="Arial"/>
              </a:rPr>
              <a:t>核心策略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650992"/>
            <a:ext cx="8778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Arial"/>
              </a:defRPr>
            </a:pPr>
            <a:r>
              <a:rPr sz="1400" b="0">
                <a:solidFill>
                  <a:srgbClr val="111827"/>
                </a:solidFill>
                <a:latin typeface="Arial"/>
              </a:rPr>
              <a:t>ADDA 做域适应基础层，类条件约束保缺陷子空间，少量标注补条件分布，异常检测兜底未知类。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16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ADDA 的定位与边界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18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09728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1208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48828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ADDA 做对了什么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4882896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清晰的无监督域适应框架：源域预训练 → 对抗对齐 → 目标推理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判别式方法比生成式更稳定，尤其是大域偏移下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不共享权重设计允许目标域有独立低层映射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作为域适应基线，方法简洁、实验充分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764792"/>
            <a:ext cx="48828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rPr sz="1400" b="1">
                <a:solidFill>
                  <a:srgbClr val="B91C1C"/>
                </a:solidFill>
                <a:latin typeface="Arial"/>
              </a:rPr>
              <a:t>ADDA 的局限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221992"/>
            <a:ext cx="4882896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只对齐边缘分布，不保证类别条件对齐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目标域无标签数据中必须有缺陷样本覆盖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不能处理开放集或新类别场景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不适合单独作为工业缺陷迁移的最终方案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60520"/>
            <a:ext cx="10789920" cy="141732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70832"/>
            <a:ext cx="9235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</a:rPr>
              <a:t>ADDA 适合做域适应基线——削弱产品外观偏移；但划痕子空间对齐需要额外约束（类条件 + 少量标注 + 异常检测）。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43600"/>
            <a:ext cx="10424160" cy="45720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如果有问题，我们可以讨论 ADDA 和 DANN 的选择、类条件约束的具体实现、或主动标注的策略设计。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